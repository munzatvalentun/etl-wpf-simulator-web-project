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801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Чернівецький національний університет імені Юрія Федьковича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 комп'ютерних наук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та реалізація ETL-конвейєра на основі Medallion Architecture з імітацією реальних потоків вхідних даних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32688" y="306324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ETL Pipeline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79776" y="306324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Medallion Architecture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864" y="306324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WPF Simulator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73952" y="306324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3063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ASP.NET Core MVC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___________________________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Науковий керівник: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к.ф.-м.н., доц. Томка Ю.Я.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Чернівці –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АКТУАЛЬНІСТЬ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та актуальність дослідження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90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Зростаючі обсяги даних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09928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Сучасні підприємства генерують терабайти даних з різнорідних джерел, що потребують надійної інтеграції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41448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41448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 існуючих рішень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825496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Airflow, ADF, SSIS та dbt не поєднують відкритість, хмарну незалежність і вбудований контроль якості одночасно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57016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57016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648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роботи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941064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ETL-систему з медальйонною архітектурою, що реалізує повний цикл Bronze→Silver→Gold з контролем якості та моніторингом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ПОСТАНОВКА ЗАДАЧІ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 та завдання дослідження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3931920" cy="3291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801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6576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Розробити програмну систему інтеграції даних на основі медальйонної архітектури з повним ETL-циклом Bronze→Silver→Gold, вбудованим контролем якості та вебінтерфейсом моніторингу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4389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2801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ЗАВДАННЯ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41148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755648"/>
            <a:ext cx="4160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Теоретичний огляд ETL та медальйонної архітектури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Порівняльний аналіз існуючих інструментів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Проектування схеми БД та ETL-пайплайну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Реалізація WPF-симулятора потоків даних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Реалізація вебзастосунку моніторингу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Організація міжпроцесної взаємодії (Named Pipe)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АНАЛІЗ АНАЛОГІВ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Порівняльний аналіз існуючих ETL-інструментів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98448"/>
            <a:ext cx="256032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984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Критерій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08960" y="1298448"/>
            <a:ext cx="100584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298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0" y="1298448"/>
            <a:ext cx="100584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298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120640" y="1298448"/>
            <a:ext cx="100584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298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298448"/>
            <a:ext cx="100584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298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32320" y="1298448"/>
            <a:ext cx="14630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2984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Власне рішення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162763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6276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Відкритий код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08960" y="162763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6276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0" y="162763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16276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162763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6276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1627632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6276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0" y="1627632"/>
            <a:ext cx="146304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16276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1956816"/>
            <a:ext cx="25603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1956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Medallion-архітектура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08960" y="1956816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1956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0" y="1956816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1956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20640" y="1956816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1956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1956816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19568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32320" y="1956816"/>
            <a:ext cx="146304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19568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228600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22860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Локальне розгортання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08960" y="22860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0" y="2286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14800" y="22860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0" y="2286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120640" y="22860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2286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26480" y="2286000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2286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32320" y="2286000"/>
            <a:ext cx="146304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22860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8640" y="2615184"/>
            <a:ext cx="25603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26151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Вбудована валідація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108960" y="2615184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26151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114800" y="2615184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0" y="26151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120640" y="2615184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26151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26480" y="2615184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0" y="26151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132320" y="2615184"/>
            <a:ext cx="146304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32320" y="26151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48640" y="29443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294436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Хмарна незалежність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108960" y="2944368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08960" y="2944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114800" y="2944368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0" y="2944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120640" y="2944368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120640" y="2944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126480" y="2944368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26480" y="29443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132320" y="2944368"/>
            <a:ext cx="146304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32320" y="29443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48640" y="3273552"/>
            <a:ext cx="25603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" y="32735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Вбудований моніторинг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108960" y="3273552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108960" y="32735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4114800" y="3273552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114800" y="32735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5120640" y="3273552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120640" y="32735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6126480" y="3273552"/>
            <a:ext cx="100584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26480" y="32735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132320" y="3273552"/>
            <a:ext cx="146304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32320" y="32735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548640" y="36027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48640" y="360273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Ідемпотентні запуски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108960" y="3602736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108960" y="3602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4114800" y="3602736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114800" y="3602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5120640" y="3602736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120640" y="3602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126480" y="3602736"/>
            <a:ext cx="10058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26480" y="36027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7132320" y="3602736"/>
            <a:ext cx="1463040" cy="329184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132320" y="36027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548640" y="44988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✓ — повністю підтримується   ± — частково   ✗ — не підтримується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36576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 descr="Изображение выглядит как текст, снимок экрана, Шрифт,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EF6E18BE-E588-B2E1-F5F3-85C61256E4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77" b="5173"/>
          <a:stretch/>
        </p:blipFill>
        <p:spPr>
          <a:xfrm>
            <a:off x="1350498" y="1057850"/>
            <a:ext cx="6330461" cy="383419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65760" y="86864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868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АРХІТЕКТУРА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41604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Загальна архітектура двокомпонентної системи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1264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5422" y="48920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MEDALLION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Медальйонна архітектура: Bronze → Silver → Gold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🥉 BRONZE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23774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stg.SalesRaw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Сирі, незмінні дані з генератора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Nullable-поля для всіх атрибутів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Прапор IsProcessedToSilver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вставка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2331720"/>
            <a:ext cx="228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801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80160"/>
            <a:ext cx="2651760" cy="502920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🥈 SILVER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silver.SalesClean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83280" y="22402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 NOT NULL, Quantity&gt;0, Price&gt;0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Дедуплікація (батч + БД)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 TotalAmount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Трасування через SourceId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97880" y="2331720"/>
            <a:ext cx="228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28016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280160"/>
            <a:ext cx="26517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2801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🥇 GOLD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1874520"/>
            <a:ext cx="23774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dw.FactSales + 4 виміри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63640" y="2240280"/>
            <a:ext cx="2423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Зіркова схема (Star Schema)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DimStore, DimProduct, DimCustomer, DimDate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Агрегати Quantity, TotalAmount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Ідемпотентне створення DimDate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БАЗА ДАНИХ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бази даних PostgreSQL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937760" cy="338328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[ ER-ДІАГРАМА БАЗИ ДАНИХ ]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Вставте рис. 2.2 з пояснювальної записки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0" y="1280160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1280160"/>
            <a:ext cx="6400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131673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96128" y="1581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· SalesRaw — сирі записи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0" y="1947672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1947672"/>
            <a:ext cx="6400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96128" y="198424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silver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96128" y="22494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SalesClean — очищені записи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2615184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2615184"/>
            <a:ext cx="6400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265176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96128" y="29169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FactSales + 4 виміри (Star Schema)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0" y="3282696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0" y="3282696"/>
            <a:ext cx="6400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96128" y="3319272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etl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96128" y="35844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· EtlJob, EtlRun, EtlLog, EtlSchedule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3950208"/>
            <a:ext cx="32918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3950208"/>
            <a:ext cx="6400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39867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96128" y="4251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· UserAccount (ролі + bcrypt)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ETL-ПАЙПЛАЙН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 ETL-пайплайну та механізми якості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280160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16152" y="1325880"/>
            <a:ext cx="457200" cy="45720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BronzeLoader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2258568"/>
            <a:ext cx="1645920" cy="274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1719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Мінімальна логіка: отримати → зберегти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Nullable-поля, без валідації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Атомарна транзакція (EF Core)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9464" y="1280160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00984" y="1325880"/>
            <a:ext cx="457200" cy="457200"/>
          </a:xfrm>
          <a:prstGeom prst="ellipse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60904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SilverProcessor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06624" y="2258568"/>
            <a:ext cx="1645920" cy="27432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2331720"/>
            <a:ext cx="1719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NOT NULL (дата, магазин, товар)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Quantity&gt;0, Price&gt;0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Дворівнева дедуплікація (HashSet + БД)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Прапор ідемпотентності IsProcessedToSilver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54296" y="1280160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85816" y="13258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8581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45736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GoldLoader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91456" y="2258568"/>
            <a:ext cx="16459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2331720"/>
            <a:ext cx="1719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у DimStore, DimProduct, DimCustomer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GetOrCreateDateKeyAsync (DimDate)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 FactSales зі Star Schema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Прапор ідемпотентності IsProcessedToGold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39128" y="1280160"/>
            <a:ext cx="192024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70648" y="1325880"/>
            <a:ext cx="457200" cy="45720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7064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30568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EtlOrchestrator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76288" y="2258568"/>
            <a:ext cx="1645920" cy="2743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8856" y="2331720"/>
            <a:ext cx="17190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StartRunAsync / FinishRunAsync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LogAsync (Info / Warn / Error)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оброблених записів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Success / Failed / Running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WPF СИМУЛЯТОР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синтетичних потоків даних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57200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[ СКРІНШОТ WPF-СИМУЛЯТОРА ]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Вставте рис. 4.1 або 4.2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з пояснювальної записки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298448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93792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669280" y="13533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генерації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163677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Size, Delay, рівні Null/Negative/Duplicate Rate через слайдери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0" y="2093976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93792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0" y="2148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Visualizer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24323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картки Bronze/Silver/Gold з лічильниками та анімацією кожного запису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20640" y="2889504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93792" y="30083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0" y="29443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/ REJECTED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32278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Кольорова індикація статусу запису з причиною відхилення в реальному часі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120640" y="3685032"/>
            <a:ext cx="36576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93792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69280" y="37398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подій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402336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ObservableCollection з кольоровим кодуванням Info/Warn/Error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ВЕБ-ЗАСТОСУНОК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Вебзастосунок моніторингу ASP.NET Core MVC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572000" cy="320040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[ СКРІНШОТ ВЕБ-ЗАСТОСУНКУ ]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Вставте рис. 4.4, 4.5 або 4.6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</a:rPr>
              <a:t>з пояснювальної записки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20640" y="1298448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0" y="1298448"/>
            <a:ext cx="1783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389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93792" y="1645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KPI-картки шарів, статистика запусків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95160" y="1298448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95160" y="1298448"/>
            <a:ext cx="1783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13898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Jobs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68312" y="1645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задач, кнопка Run Now (Named Pipe)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20640" y="2048256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20640" y="2048256"/>
            <a:ext cx="1783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1396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Logs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93792" y="2395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Info/Warn/Error з фільтрами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95160" y="2048256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95160" y="2048256"/>
            <a:ext cx="1783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213969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68312" y="2395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Перегляд Bronze-шару, експорт CSV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798064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2798064"/>
            <a:ext cx="1783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8895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93792" y="3145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Gold-шар, фільтрація, аналітика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95160" y="2798064"/>
            <a:ext cx="1783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95160" y="2798064"/>
            <a:ext cx="17830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88950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68312" y="3145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Управління користувачами і ролями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РЕЗУЛЬТАТИ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та практична значущість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492" y="132588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7492" y="1325880"/>
            <a:ext cx="260604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8932" y="2075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шари обробки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(Bronze/Silver/Gold)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8980" y="132588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8980" y="1325880"/>
            <a:ext cx="2606040" cy="6400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8980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360420" y="2075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 PostgreSQL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 розмежуванням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0468" y="132588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0468" y="132588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0468" y="1463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121908" y="20756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 валідації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SilverProcessor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7492" y="27432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7492" y="2743200"/>
            <a:ext cx="2606040" cy="6400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" y="2880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598932" y="3493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дедуплікація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(батч + БД)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8980" y="27432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8980" y="2743200"/>
            <a:ext cx="2606040" cy="64008"/>
          </a:xfrm>
          <a:prstGeom prst="rect">
            <a:avLst/>
          </a:prstGeom>
          <a:solidFill>
            <a:srgbClr val="0D6E8C"/>
          </a:solidFill>
          <a:ln w="12700">
            <a:solidFill>
              <a:srgbClr val="0D6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68980" y="2880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3360420" y="3493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ролі доступу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Admin/Engineer/Analyst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0468" y="27432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0468" y="274320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0468" y="28803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121908" y="3493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Pipe між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та Web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4A3B8"/>
                </a:solidFill>
              </a:rPr>
              <a:t>Чернівецький національний університет ім. Ю. Федьковича · Кафедра комп'ютерних наук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21040" y="48006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14B8A6"/>
                </a:solidFill>
              </a:rPr>
              <a:t>ВИСНОВКИ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 виконаної роботи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4081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Проведено теоретичний огляд концепції ETL та медальйонної архітектури; виявлено обмеження існуючих інструментів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0756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Спроектовано двокомпонентну систему: WPF-симулятор з MVVM та вебзастосунок на ASP.NET Core MVC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52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7432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ETL-пайплайн (Bronze/Silver/Gold) з валідацією, дедуплікацією та ідемпотентністю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41071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симулятор з контрольованим рівнем дефектності та анімованою візуалізацією потоку даних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8736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07822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Забезпечено міжпроцесну взаємодію через Named Pipe та ролеву модель доступу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4B8A6"/>
                </a:solidFill>
              </a:rPr>
              <a:t>Дякую за увагу!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950</Words>
  <Application>Microsoft Office PowerPoint</Application>
  <PresentationFormat>Экран (16:9)</PresentationFormat>
  <Paragraphs>245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ETL-конвейєр на основі Medallion Architecture</dc:title>
  <dc:subject>PptxGenJS Presentation</dc:subject>
  <dc:creator>PptxGenJS</dc:creator>
  <cp:lastModifiedBy>Yuriy Tomka</cp:lastModifiedBy>
  <cp:revision>3</cp:revision>
  <dcterms:created xsi:type="dcterms:W3CDTF">2026-05-09T20:20:58Z</dcterms:created>
  <dcterms:modified xsi:type="dcterms:W3CDTF">2026-05-09T20:27:12Z</dcterms:modified>
</cp:coreProperties>
</file>